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1200" b="1">
                <a:solidFill>
                  <a:srgbClr val="38BDF8"/>
                </a:solidFill>
              </a:defRPr>
            </a:pPr>
            <a:r>
              <a:t>KURIKULUM MERDEKA FASE F • MATEMATIKA TINGKAT LANJUT</a:t>
            </a:r>
          </a:p>
        </p:txBody>
      </p:sp>
      <p:sp>
        <p:nvSpPr>
          <p:cNvPr id="3" name="TextBox 2"/>
          <p:cNvSpPr txBox="1"/>
          <p:nvPr/>
        </p:nvSpPr>
        <p:spPr>
          <a:xfrm>
            <a:off x="914400" y="1463040"/>
            <a:ext cx="10362895" cy="2011680"/>
          </a:xfrm>
          <a:prstGeom prst="rect">
            <a:avLst/>
          </a:prstGeom>
          <a:noFill/>
        </p:spPr>
        <p:txBody>
          <a:bodyPr wrap="square">
            <a:spAutoFit/>
          </a:bodyPr>
          <a:lstStyle/>
          <a:p>
            <a:pPr>
              <a:defRPr sz="3600" b="1">
                <a:solidFill>
                  <a:srgbClr val="FFFFFF"/>
                </a:solidFill>
              </a:defRPr>
            </a:pPr>
            <a:r>
              <a:t>TRANSFORMASI GEOMETRI ROTASI 2D</a:t>
            </a:r>
          </a:p>
          <a:p>
            <a:pPr>
              <a:spcBef>
                <a:spcPts val="1000"/>
              </a:spcBef>
              <a:defRPr sz="2000">
                <a:solidFill>
                  <a:srgbClr val="CBD5E1"/>
                </a:solidFill>
              </a:defRPr>
            </a:pPr>
            <a:r>
              <a:t>Pemodelan dan Analisis Lambang SMK Negeri 9 Semarang</a:t>
            </a:r>
            <a:br/>
            <a:r>
              <a:t>Berbasis Koordinat Cartesius dan Kurva Bézier</a:t>
            </a:r>
          </a:p>
        </p:txBody>
      </p:sp>
      <p:sp>
        <p:nvSpPr>
          <p:cNvPr id="4" name="Rounded Rectangle 3"/>
          <p:cNvSpPr/>
          <p:nvPr/>
        </p:nvSpPr>
        <p:spPr>
          <a:xfrm>
            <a:off x="914400" y="4114800"/>
            <a:ext cx="10362895" cy="1645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8FAFC"/>
                </a:solidFill>
              </a:defRPr>
            </a:pPr>
            <a:r>
              <a:t>KELOMPOK 4 — KELAS XII PPLG</a:t>
            </a:r>
          </a:p>
          <a:p>
            <a:pPr>
              <a:spcBef>
                <a:spcPts val="400"/>
              </a:spcBef>
              <a:defRPr sz="1300">
                <a:solidFill>
                  <a:srgbClr val="94A3B8"/>
                </a:solidFill>
              </a:defRPr>
            </a:pPr>
            <a:r>
              <a:t>SMK Negeri 9 Semarang • Tahun Ajaran 2026/2027</a:t>
            </a:r>
            <a:br/>
            <a:r>
              <a:t>Alokasi Waktu Presentasi: 7 – 10 Menit (Sesuai Ketentuan Panduan Proyek)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200" b="1">
                <a:solidFill>
                  <a:srgbClr val="1E3A8A"/>
                </a:solidFill>
              </a:defRPr>
            </a:pPr>
            <a:r>
              <a:t>01. LATAR BELAKANG &amp; PEMILIHAN OBJEK</a:t>
            </a:r>
          </a:p>
          <a:p>
            <a:pPr>
              <a:spcBef>
                <a:spcPts val="300"/>
              </a:spcBef>
              <a:defRPr sz="1300">
                <a:solidFill>
                  <a:srgbClr val="64748B"/>
                </a:solidFill>
              </a:defRPr>
            </a:pPr>
            <a:r>
              <a:t>Mengapa Memilih Lambang SMKN 9 Semarang dan Mengapa Kurva Bézier?</a:t>
            </a:r>
          </a:p>
        </p:txBody>
      </p:sp>
      <p:sp>
        <p:nvSpPr>
          <p:cNvPr id="3" name="Rounded Rectangle 2"/>
          <p:cNvSpPr/>
          <p:nvPr/>
        </p:nvSpPr>
        <p:spPr>
          <a:xfrm>
            <a:off x="731520" y="155448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1E3A8A"/>
                </a:solidFill>
              </a:defRPr>
            </a:pPr>
            <a:r>
              <a:t>🛡️ Identitas Geometri Lambang Sekolah</a:t>
            </a:r>
          </a:p>
          <a:p>
            <a:pPr>
              <a:spcBef>
                <a:spcPts val="1000"/>
              </a:spcBef>
              <a:defRPr sz="1200">
                <a:solidFill>
                  <a:srgbClr val="334155"/>
                </a:solidFill>
              </a:defRPr>
            </a:pPr>
            <a:r>
              <a:t>• Objek Utama: Lambang Resmi SMK Negeri 9 Semarang berbentuk Perisai Segilima Berlekuk (Heraldic Crest Shield).</a:t>
            </a:r>
          </a:p>
          <a:p>
            <a:pPr>
              <a:spcBef>
                <a:spcPts val="1000"/>
              </a:spcBef>
              <a:defRPr sz="1200">
                <a:solidFill>
                  <a:srgbClr val="334155"/>
                </a:solidFill>
              </a:defRPr>
            </a:pPr>
            <a:r>
              <a:t>• Makna Filosofis: Melambangkan perlindungan moral, ketangguhan mental, dan keunggulan kompetensi siswa PPLG.</a:t>
            </a:r>
          </a:p>
          <a:p>
            <a:pPr>
              <a:spcBef>
                <a:spcPts val="1000"/>
              </a:spcBef>
              <a:defRPr sz="1200">
                <a:solidFill>
                  <a:srgbClr val="334155"/>
                </a:solidFill>
              </a:defRPr>
            </a:pPr>
            <a:r>
              <a:t>• Pusat Transformasi: Titik origin O(0,0) di bidang koordinat Cartesius.</a:t>
            </a:r>
          </a:p>
          <a:p>
            <a:pPr>
              <a:spcBef>
                <a:spcPts val="1000"/>
              </a:spcBef>
              <a:defRPr sz="1200">
                <a:solidFill>
                  <a:srgbClr val="334155"/>
                </a:solidFill>
              </a:defRPr>
            </a:pPr>
            <a:r>
              <a:t>• Arah Rotasi: Standar matematis berlawanan arah jarum jam (+α) pada sudut istimewa 90°, 180°, dan 270°.</a:t>
            </a:r>
          </a:p>
        </p:txBody>
      </p:sp>
      <p:sp>
        <p:nvSpPr>
          <p:cNvPr id="4" name="Rounded Rectangle 3"/>
          <p:cNvSpPr/>
          <p:nvPr/>
        </p:nvSpPr>
        <p:spPr>
          <a:xfrm>
            <a:off x="6217920" y="155448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059669"/>
                </a:solidFill>
              </a:defRPr>
            </a:pPr>
            <a:r>
              <a:t>✒️ Urgensi Kurva Bézier &amp; Vektor Grafis</a:t>
            </a:r>
          </a:p>
          <a:p>
            <a:pPr>
              <a:spcBef>
                <a:spcPts val="1000"/>
              </a:spcBef>
              <a:defRPr sz="1200">
                <a:solidFill>
                  <a:srgbClr val="334155"/>
                </a:solidFill>
              </a:defRPr>
            </a:pPr>
            <a:r>
              <a:t>• Tantangan Bentuk Nyata: Sisi lambang sekolah tidak hanya garis lurus kaku, tetapi memiliki lekukan aerodinamis.</a:t>
            </a:r>
          </a:p>
          <a:p>
            <a:pPr>
              <a:spcBef>
                <a:spcPts val="1000"/>
              </a:spcBef>
              <a:defRPr sz="1200">
                <a:solidFill>
                  <a:srgbClr val="334155"/>
                </a:solidFill>
              </a:defRPr>
            </a:pPr>
            <a:r>
              <a:t>• Analogi Pen Tool: Kurva Bézier bekerja persis seperti alat Pen Tool di Figma/Illustrator menggunakan Titik Kontrol (Control Points).</a:t>
            </a:r>
          </a:p>
          <a:p>
            <a:pPr>
              <a:spcBef>
                <a:spcPts val="1000"/>
              </a:spcBef>
              <a:defRPr sz="1200">
                <a:solidFill>
                  <a:srgbClr val="334155"/>
                </a:solidFill>
              </a:defRPr>
            </a:pPr>
            <a:r>
              <a:t>• Invarian Rotasi: Titik pengendali lengkung (C₁, C₂, C₃) ikut diputar oleh matriks rotasi yang sama persis.</a:t>
            </a:r>
          </a:p>
          <a:p>
            <a:pPr>
              <a:spcBef>
                <a:spcPts val="1000"/>
              </a:spcBef>
              <a:defRPr sz="1200">
                <a:solidFill>
                  <a:srgbClr val="334155"/>
                </a:solidFill>
              </a:defRPr>
            </a:pPr>
            <a:r>
              <a:t>• Kualitas Gambar: Bentuk lengkungan perisai tidak pernah rusak, patah, atau peyang pada sudut putaran berapa pun.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200" b="1">
                <a:solidFill>
                  <a:srgbClr val="1E3A8A"/>
                </a:solidFill>
              </a:defRPr>
            </a:pPr>
            <a:r>
              <a:t>02. LANDASAN TEORI MATRIKS OPERATOR ROTASI</a:t>
            </a:r>
          </a:p>
          <a:p>
            <a:pPr>
              <a:spcBef>
                <a:spcPts val="300"/>
              </a:spcBef>
              <a:defRPr sz="1300">
                <a:solidFill>
                  <a:srgbClr val="64748B"/>
                </a:solidFill>
              </a:defRPr>
            </a:pPr>
            <a:r>
              <a:t>Formulasi Perkalian Matriks 2D terhadap Titik Pusat O(0,0)</a:t>
            </a:r>
          </a:p>
        </p:txBody>
      </p:sp>
      <p:sp>
        <p:nvSpPr>
          <p:cNvPr id="3" name="Rounded Rectangle 2"/>
          <p:cNvSpPr/>
          <p:nvPr/>
        </p:nvSpPr>
        <p:spPr>
          <a:xfrm>
            <a:off x="731520" y="1463040"/>
            <a:ext cx="10728655" cy="137160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400" b="1">
                <a:solidFill>
                  <a:srgbClr val="1E3A8A"/>
                </a:solidFill>
              </a:defRPr>
            </a:pPr>
            <a:r>
              <a:t>Persamaan Umum Matriks Operator Rotasi (Rα):</a:t>
            </a:r>
          </a:p>
          <a:p>
            <a:pPr>
              <a:spcBef>
                <a:spcPts val="400"/>
              </a:spcBef>
              <a:defRPr sz="1250" b="1">
                <a:solidFill>
                  <a:srgbClr val="0F172A"/>
                </a:solidFill>
              </a:defRPr>
            </a:pPr>
            <a:r>
              <a:t>[ x' ]   [  cos α   -sin α  ] [ x ]</a:t>
            </a:r>
            <a:br/>
            <a:r>
              <a:t>[ y' ] = [  sin α    cos α  ] [ y ]       ⟹   x' = (x · cos α) - (y · sin α)  |  y' = (x · sin α) + (y · cos α)</a:t>
            </a:r>
          </a:p>
        </p:txBody>
      </p:sp>
      <p:sp>
        <p:nvSpPr>
          <p:cNvPr id="4" name="Rounded Rectangle 3"/>
          <p:cNvSpPr/>
          <p:nvPr/>
        </p:nvSpPr>
        <p:spPr>
          <a:xfrm>
            <a:off x="731520" y="3017520"/>
            <a:ext cx="3413455" cy="3291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400" b="1">
                <a:solidFill>
                  <a:srgbClr val="1E3A8A"/>
                </a:solidFill>
              </a:defRPr>
            </a:pPr>
            <a:r>
              <a:t>A. Rotasi +90° (Kuadran II)</a:t>
            </a:r>
          </a:p>
          <a:p>
            <a:pPr>
              <a:spcBef>
                <a:spcPts val="300"/>
              </a:spcBef>
              <a:defRPr sz="1050">
                <a:solidFill>
                  <a:srgbClr val="64748B"/>
                </a:solidFill>
              </a:defRPr>
            </a:pPr>
            <a:r>
              <a:t>cos 90° = 0  |  sin 90° = 1</a:t>
            </a:r>
          </a:p>
          <a:p>
            <a:pPr>
              <a:spcBef>
                <a:spcPts val="800"/>
              </a:spcBef>
              <a:defRPr sz="1100" b="1">
                <a:solidFill>
                  <a:srgbClr val="0F172A"/>
                </a:solidFill>
              </a:defRPr>
            </a:pPr>
            <a:r>
              <a:t>Matriks Operator:</a:t>
            </a:r>
            <a:br/>
            <a:r>
              <a:t>[  0  -1 ]</a:t>
            </a:r>
            <a:br/>
            <a:r>
              <a:t>[  1   0 ]</a:t>
            </a:r>
          </a:p>
          <a:p>
            <a:pPr>
              <a:spcBef>
                <a:spcPts val="800"/>
              </a:spcBef>
              <a:defRPr sz="1200" b="1">
                <a:solidFill>
                  <a:srgbClr val="059669"/>
                </a:solidFill>
              </a:defRPr>
            </a:pPr>
            <a:r>
              <a:t>Rumus Praktis:</a:t>
            </a:r>
            <a:br/>
            <a:r>
              <a:t>(x, y) ⎯⎯→ (-y, x)</a:t>
            </a:r>
          </a:p>
          <a:p>
            <a:pPr>
              <a:spcBef>
                <a:spcPts val="600"/>
              </a:spcBef>
              <a:defRPr sz="1050">
                <a:solidFill>
                  <a:srgbClr val="334155"/>
                </a:solidFill>
              </a:defRPr>
            </a:pPr>
            <a:r>
              <a:t>Tukar posisi x dan y, lalu beri tanda negatif pada nilai x baru.</a:t>
            </a:r>
          </a:p>
        </p:txBody>
      </p:sp>
      <p:sp>
        <p:nvSpPr>
          <p:cNvPr id="5" name="Rounded Rectangle 4"/>
          <p:cNvSpPr/>
          <p:nvPr/>
        </p:nvSpPr>
        <p:spPr>
          <a:xfrm>
            <a:off x="4389120" y="3017520"/>
            <a:ext cx="3413455" cy="3291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400" b="1">
                <a:solidFill>
                  <a:srgbClr val="1E3A8A"/>
                </a:solidFill>
              </a:defRPr>
            </a:pPr>
            <a:r>
              <a:t>B. Rotasi +180° (Kuadran III)</a:t>
            </a:r>
          </a:p>
          <a:p>
            <a:pPr>
              <a:spcBef>
                <a:spcPts val="300"/>
              </a:spcBef>
              <a:defRPr sz="1050">
                <a:solidFill>
                  <a:srgbClr val="64748B"/>
                </a:solidFill>
              </a:defRPr>
            </a:pPr>
            <a:r>
              <a:t>cos 180° = -1  |  sin 180° = 0</a:t>
            </a:r>
          </a:p>
          <a:p>
            <a:pPr>
              <a:spcBef>
                <a:spcPts val="800"/>
              </a:spcBef>
              <a:defRPr sz="1100" b="1">
                <a:solidFill>
                  <a:srgbClr val="0F172A"/>
                </a:solidFill>
              </a:defRPr>
            </a:pPr>
            <a:r>
              <a:t>Matriks Operator:</a:t>
            </a:r>
            <a:br/>
            <a:r>
              <a:t>[ -1   0 ]</a:t>
            </a:r>
            <a:br/>
            <a:r>
              <a:t>[  0  -1 ]</a:t>
            </a:r>
          </a:p>
          <a:p>
            <a:pPr>
              <a:spcBef>
                <a:spcPts val="800"/>
              </a:spcBef>
              <a:defRPr sz="1200" b="1">
                <a:solidFill>
                  <a:srgbClr val="059669"/>
                </a:solidFill>
              </a:defRPr>
            </a:pPr>
            <a:r>
              <a:t>Rumus Praktis:</a:t>
            </a:r>
            <a:br/>
            <a:r>
              <a:t>(x, y) ⎯⎯→ (-x, -y)</a:t>
            </a:r>
          </a:p>
          <a:p>
            <a:pPr>
              <a:spcBef>
                <a:spcPts val="600"/>
              </a:spcBef>
              <a:defRPr sz="1050">
                <a:solidFill>
                  <a:srgbClr val="334155"/>
                </a:solidFill>
              </a:defRPr>
            </a:pPr>
            <a:r>
              <a:t>Posisi x dan y tetap, kedua nilai tandanya dibalik menjadi lawannya.</a:t>
            </a:r>
          </a:p>
        </p:txBody>
      </p:sp>
      <p:sp>
        <p:nvSpPr>
          <p:cNvPr id="6" name="Rounded Rectangle 5"/>
          <p:cNvSpPr/>
          <p:nvPr/>
        </p:nvSpPr>
        <p:spPr>
          <a:xfrm>
            <a:off x="8046720" y="3017520"/>
            <a:ext cx="3413455" cy="3291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400" b="1">
                <a:solidFill>
                  <a:srgbClr val="1E3A8A"/>
                </a:solidFill>
              </a:defRPr>
            </a:pPr>
            <a:r>
              <a:t>C. Rotasi +270° (Kuadran IV)</a:t>
            </a:r>
          </a:p>
          <a:p>
            <a:pPr>
              <a:spcBef>
                <a:spcPts val="300"/>
              </a:spcBef>
              <a:defRPr sz="1050">
                <a:solidFill>
                  <a:srgbClr val="64748B"/>
                </a:solidFill>
              </a:defRPr>
            </a:pPr>
            <a:r>
              <a:t>cos 270° = 0  |  sin 270° = -1</a:t>
            </a:r>
          </a:p>
          <a:p>
            <a:pPr>
              <a:spcBef>
                <a:spcPts val="800"/>
              </a:spcBef>
              <a:defRPr sz="1100" b="1">
                <a:solidFill>
                  <a:srgbClr val="0F172A"/>
                </a:solidFill>
              </a:defRPr>
            </a:pPr>
            <a:r>
              <a:t>Matriks Operator:</a:t>
            </a:r>
            <a:br/>
            <a:r>
              <a:t>[  0   1 ]</a:t>
            </a:r>
            <a:br/>
            <a:r>
              <a:t>[ -1   0 ]</a:t>
            </a:r>
          </a:p>
          <a:p>
            <a:pPr>
              <a:spcBef>
                <a:spcPts val="800"/>
              </a:spcBef>
              <a:defRPr sz="1200" b="1">
                <a:solidFill>
                  <a:srgbClr val="059669"/>
                </a:solidFill>
              </a:defRPr>
            </a:pPr>
            <a:r>
              <a:t>Rumus Praktis:</a:t>
            </a:r>
            <a:br/>
            <a:r>
              <a:t>(x, y) ⎯⎯→ (y, -x)</a:t>
            </a:r>
          </a:p>
          <a:p>
            <a:pPr>
              <a:spcBef>
                <a:spcPts val="600"/>
              </a:spcBef>
              <a:defRPr sz="1050">
                <a:solidFill>
                  <a:srgbClr val="334155"/>
                </a:solidFill>
              </a:defRPr>
            </a:pPr>
            <a:r>
              <a:t>Tukar posisi x dan y, lalu beri tanda negatif pada nilai y baru.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200" b="1">
                <a:solidFill>
                  <a:srgbClr val="1E3A8A"/>
                </a:solidFill>
              </a:defRPr>
            </a:pPr>
            <a:r>
              <a:t>03. PEMODELAN KOORDINAT CARTESIUS</a:t>
            </a:r>
          </a:p>
          <a:p>
            <a:pPr>
              <a:spcBef>
                <a:spcPts val="300"/>
              </a:spcBef>
              <a:defRPr sz="1300">
                <a:solidFill>
                  <a:srgbClr val="64748B"/>
                </a:solidFill>
              </a:defRPr>
            </a:pPr>
            <a:r>
              <a:t>5 Titik Sudut Utama &amp; Titik Kontrol Lengkung pada Posisi Awal (0° — Kuadran I)</a:t>
            </a:r>
          </a:p>
        </p:txBody>
      </p:sp>
      <p:sp>
        <p:nvSpPr>
          <p:cNvPr id="3" name="Rounded Rectangle 2"/>
          <p:cNvSpPr/>
          <p:nvPr/>
        </p:nvSpPr>
        <p:spPr>
          <a:xfrm>
            <a:off x="731520" y="1554480"/>
            <a:ext cx="5212080"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1E3A8A"/>
                </a:solidFill>
              </a:defRPr>
            </a:pPr>
            <a:r>
              <a:t>📍 5 Titik Sudut Utama Poligon Perisai</a:t>
            </a:r>
          </a:p>
          <a:p>
            <a:pPr>
              <a:spcBef>
                <a:spcPts val="800"/>
              </a:spcBef>
              <a:defRPr sz="1150">
                <a:solidFill>
                  <a:srgbClr val="334155"/>
                </a:solidFill>
              </a:defRPr>
            </a:pPr>
            <a:r>
              <a:t>• Titik A (6.0, 1.8) — Ujung lancip paling bawah, menjadi poros utama perisai.</a:t>
            </a:r>
          </a:p>
          <a:p>
            <a:pPr>
              <a:spcBef>
                <a:spcPts val="800"/>
              </a:spcBef>
              <a:defRPr sz="1150">
                <a:solidFill>
                  <a:srgbClr val="334155"/>
                </a:solidFill>
              </a:defRPr>
            </a:pPr>
            <a:r>
              <a:t>• Titik B (10.4, 11.7) — Pinggang kanan terluar dari bingkai perisai.</a:t>
            </a:r>
          </a:p>
          <a:p>
            <a:pPr>
              <a:spcBef>
                <a:spcPts val="800"/>
              </a:spcBef>
              <a:defRPr sz="1150">
                <a:solidFill>
                  <a:srgbClr val="334155"/>
                </a:solidFill>
              </a:defRPr>
            </a:pPr>
            <a:r>
              <a:t>• Titik C (8.5, 13.0) — Bahu atas kanan dihubungkan garis datar horizontal.</a:t>
            </a:r>
          </a:p>
          <a:p>
            <a:pPr>
              <a:spcBef>
                <a:spcPts val="800"/>
              </a:spcBef>
              <a:defRPr sz="1150">
                <a:solidFill>
                  <a:srgbClr val="334155"/>
                </a:solidFill>
              </a:defRPr>
            </a:pPr>
            <a:r>
              <a:t>• Titik D (3.5, 13.0) — Bahu atas kiri yang sejajar mendatar dengan titik C.</a:t>
            </a:r>
          </a:p>
          <a:p>
            <a:pPr>
              <a:spcBef>
                <a:spcPts val="800"/>
              </a:spcBef>
              <a:defRPr sz="1150">
                <a:solidFill>
                  <a:srgbClr val="334155"/>
                </a:solidFill>
              </a:defRPr>
            </a:pPr>
            <a:r>
              <a:t>• Titik E (1.6, 11.7) — Pinggang kiri terluar (simetris terhadap titik B).</a:t>
            </a:r>
          </a:p>
        </p:txBody>
      </p:sp>
      <p:sp>
        <p:nvSpPr>
          <p:cNvPr id="4" name="Rounded Rectangle 3"/>
          <p:cNvSpPr/>
          <p:nvPr/>
        </p:nvSpPr>
        <p:spPr>
          <a:xfrm>
            <a:off x="6217920" y="1554480"/>
            <a:ext cx="5212080"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059669"/>
                </a:solidFill>
              </a:defRPr>
            </a:pPr>
            <a:r>
              <a:t>🎛️ Titik Kontrol Kelengkungan Kurva Bézier</a:t>
            </a:r>
          </a:p>
          <a:p>
            <a:pPr>
              <a:spcBef>
                <a:spcPts val="600"/>
              </a:spcBef>
              <a:defRPr sz="1150">
                <a:solidFill>
                  <a:srgbClr val="334155"/>
                </a:solidFill>
              </a:defRPr>
            </a:pPr>
            <a:r>
              <a:t>Untuk membentuk sayap perisai yang melengkung indah dari A(6, 1.8) ke B(10.4, 11.7), digunakan 3 titik kontrol penarik:</a:t>
            </a:r>
          </a:p>
          <a:p>
            <a:pPr>
              <a:spcBef>
                <a:spcPts val="600"/>
              </a:spcBef>
              <a:defRPr sz="1100">
                <a:solidFill>
                  <a:srgbClr val="334155"/>
                </a:solidFill>
              </a:defRPr>
            </a:pPr>
            <a:r>
              <a:t>✦ Titik Kontrol C₁ (9.7, 3.2):</a:t>
            </a:r>
            <a:br/>
            <a:r>
              <a:t>   Menarik kelengkungan awal keluar ke arah kanan bawah.</a:t>
            </a:r>
          </a:p>
          <a:p>
            <a:pPr>
              <a:spcBef>
                <a:spcPts val="600"/>
              </a:spcBef>
              <a:defRPr sz="1100">
                <a:solidFill>
                  <a:srgbClr val="334155"/>
                </a:solidFill>
              </a:defRPr>
            </a:pPr>
            <a:r>
              <a:t>✦ Titik Kontrol C₂ (11.0, 5.4):</a:t>
            </a:r>
            <a:br/>
            <a:r>
              <a:t>   Menjaga lekukan sayap tetap gembung proporsional.</a:t>
            </a:r>
          </a:p>
          <a:p>
            <a:pPr>
              <a:spcBef>
                <a:spcPts val="600"/>
              </a:spcBef>
              <a:defRPr sz="1100">
                <a:solidFill>
                  <a:srgbClr val="334155"/>
                </a:solidFill>
              </a:defRPr>
            </a:pPr>
            <a:r>
              <a:t>✦ Titik Kontrol C₃ (10.3, 8.8):</a:t>
            </a:r>
            <a:br/>
            <a:r>
              <a:t>   Mengarahkan garis masuk mulus ke pinggang titik B.</a:t>
            </a:r>
          </a:p>
          <a:p>
            <a:pPr>
              <a:spcBef>
                <a:spcPts val="800"/>
              </a:spcBef>
              <a:defRPr sz="1100" b="1">
                <a:solidFill>
                  <a:srgbClr val="1E3A8A"/>
                </a:solidFill>
              </a:defRPr>
            </a:pPr>
            <a:r>
              <a:t>Kaidah Matematis: Titik kontrol C ikut dirotasikan secara simultan: C'(x'c, y'c) = Rα · C(xc, yc).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200" b="1">
                <a:solidFill>
                  <a:srgbClr val="1E3A8A"/>
                </a:solidFill>
              </a:defRPr>
            </a:pPr>
            <a:r>
              <a:t>04. PRODUK APLIKASI WEB INTERAKTIF (LIVE DEMO)</a:t>
            </a:r>
          </a:p>
          <a:p>
            <a:pPr>
              <a:spcBef>
                <a:spcPts val="300"/>
              </a:spcBef>
              <a:defRPr sz="1300">
                <a:solidFill>
                  <a:srgbClr val="64748B"/>
                </a:solidFill>
              </a:defRPr>
            </a:pPr>
            <a:r>
              <a:t>Simulasi Real-Time Transformasi Geometri Berbasis React, TypeScript &amp; Canvas</a:t>
            </a:r>
          </a:p>
        </p:txBody>
      </p:sp>
      <p:sp>
        <p:nvSpPr>
          <p:cNvPr id="3" name="Rounded Rectangle 2"/>
          <p:cNvSpPr/>
          <p:nvPr/>
        </p:nvSpPr>
        <p:spPr>
          <a:xfrm>
            <a:off x="731520" y="1554480"/>
            <a:ext cx="6858000"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1E3A8A"/>
                </a:solidFill>
              </a:defRPr>
            </a:pPr>
            <a:r>
              <a:t>💻 Fitur Unggulan Aplikasi Web</a:t>
            </a:r>
          </a:p>
          <a:p>
            <a:pPr>
              <a:spcBef>
                <a:spcPts val="600"/>
              </a:spcBef>
              <a:defRPr sz="1150">
                <a:solidFill>
                  <a:srgbClr val="334155"/>
                </a:solidFill>
              </a:defRPr>
            </a:pPr>
            <a:r>
              <a:t>• Kanvas Cartesius Interaktif: Grid resolusi tinggi dengan visualisasi 4 kuadran dan perputaran otomatis titik pusat O(0,0).</a:t>
            </a:r>
          </a:p>
          <a:p>
            <a:pPr>
              <a:spcBef>
                <a:spcPts val="600"/>
              </a:spcBef>
              <a:defRPr sz="1150">
                <a:solidFill>
                  <a:srgbClr val="334155"/>
                </a:solidFill>
              </a:defRPr>
            </a:pPr>
            <a:r>
              <a:t>• Kendali Rotasi Real-Time: Slider sudut putar kontinu (0°–360°) dan tombol pintas sudut kuadran (+90°, +180°, +270°).</a:t>
            </a:r>
          </a:p>
          <a:p>
            <a:pPr>
              <a:spcBef>
                <a:spcPts val="600"/>
              </a:spcBef>
              <a:defRPr sz="1150">
                <a:solidFill>
                  <a:srgbClr val="334155"/>
                </a:solidFill>
              </a:defRPr>
            </a:pPr>
            <a:r>
              <a:t>• Drag &amp; Drop Titik Sudut: Kemampuan memanipulasi titik koordinat dan titik kontrol secara fleksibel langsung di kanvas.</a:t>
            </a:r>
          </a:p>
          <a:p>
            <a:pPr>
              <a:spcBef>
                <a:spcPts val="600"/>
              </a:spcBef>
              <a:defRPr sz="1150">
                <a:solidFill>
                  <a:srgbClr val="334155"/>
                </a:solidFill>
              </a:defRPr>
            </a:pPr>
            <a:r>
              <a:t>• Ekspor Vektor SVG Resmi: Fitur unduh ikon hasil rotasi berformat SVG standar W3C resolusi tak terbatas (ringan &lt;10 KB).</a:t>
            </a:r>
          </a:p>
          <a:p>
            <a:pPr>
              <a:spcBef>
                <a:spcPts val="600"/>
              </a:spcBef>
              <a:defRPr sz="1150">
                <a:solidFill>
                  <a:srgbClr val="334155"/>
                </a:solidFill>
              </a:defRPr>
            </a:pPr>
            <a:r>
              <a:t>• Salin Path Koordinat: Penyalinan otomatis data koordinat Bézier ke clipboard untuk penggunaan pengembang perangkat lunak.</a:t>
            </a:r>
          </a:p>
        </p:txBody>
      </p:sp>
      <p:sp>
        <p:nvSpPr>
          <p:cNvPr id="4" name="Rounded Rectangle 3"/>
          <p:cNvSpPr/>
          <p:nvPr/>
        </p:nvSpPr>
        <p:spPr>
          <a:xfrm>
            <a:off x="7863840" y="1554480"/>
            <a:ext cx="3596335" cy="466344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500" b="1">
                <a:solidFill>
                  <a:srgbClr val="1E3A8A"/>
                </a:solidFill>
              </a:defRPr>
            </a:pPr>
            <a:r>
              <a:t>📱 Akses Aplikasi Sekarang</a:t>
            </a:r>
          </a:p>
        </p:txBody>
      </p:sp>
      <p:pic>
        <p:nvPicPr>
          <p:cNvPr id="5" name="Picture 4" descr="qrcode_web_matematika.png"/>
          <p:cNvPicPr>
            <a:picLocks noChangeAspect="1"/>
          </p:cNvPicPr>
          <p:nvPr/>
        </p:nvPicPr>
        <p:blipFill>
          <a:blip r:embed="rId2"/>
          <a:stretch>
            <a:fillRect/>
          </a:stretch>
        </p:blipFill>
        <p:spPr>
          <a:xfrm>
            <a:off x="8503920" y="2194560"/>
            <a:ext cx="2286000" cy="2286000"/>
          </a:xfrm>
          <a:prstGeom prst="rect">
            <a:avLst/>
          </a:prstGeom>
        </p:spPr>
      </p:pic>
      <p:sp>
        <p:nvSpPr>
          <p:cNvPr id="6" name="TextBox 5"/>
          <p:cNvSpPr txBox="1"/>
          <p:nvPr/>
        </p:nvSpPr>
        <p:spPr>
          <a:xfrm>
            <a:off x="7955279" y="4663440"/>
            <a:ext cx="3413455" cy="1371600"/>
          </a:xfrm>
          <a:prstGeom prst="rect">
            <a:avLst/>
          </a:prstGeom>
          <a:noFill/>
        </p:spPr>
        <p:txBody>
          <a:bodyPr wrap="square" lIns="0" tIns="0" rIns="0" bIns="0">
            <a:spAutoFit/>
          </a:bodyPr>
          <a:lstStyle/>
          <a:p>
            <a:pPr algn="ctr">
              <a:defRPr sz="1100">
                <a:solidFill>
                  <a:srgbClr val="64748B"/>
                </a:solidFill>
              </a:defRPr>
            </a:pPr>
            <a:r>
              <a:t>Pindai QR Code di atas atau buka tautan:</a:t>
            </a:r>
          </a:p>
          <a:p>
            <a:pPr algn="ctr">
              <a:spcBef>
                <a:spcPts val="300"/>
              </a:spcBef>
              <a:defRPr sz="1300" b="1">
                <a:solidFill>
                  <a:srgbClr val="1E3A8A"/>
                </a:solidFill>
              </a:defRPr>
            </a:pPr>
            <a:r>
              <a:t>tinyurl.com/rotasi-smkn9</a:t>
            </a:r>
          </a:p>
          <a:p>
            <a:pPr algn="ctr">
              <a:spcBef>
                <a:spcPts val="200"/>
              </a:spcBef>
              <a:defRPr sz="1050">
                <a:solidFill>
                  <a:srgbClr val="334155"/>
                </a:solidFill>
              </a:defRPr>
            </a:pPr>
            <a:r>
              <a:t>Alternatif cadangan: da.gd/V0UF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200" b="1">
                <a:solidFill>
                  <a:srgbClr val="1E3A8A"/>
                </a:solidFill>
              </a:defRPr>
            </a:pPr>
            <a:r>
              <a:t>05. HASIL PERHITUNGAN KOORDINAT 4 KUADRAN</a:t>
            </a:r>
          </a:p>
          <a:p>
            <a:pPr>
              <a:spcBef>
                <a:spcPts val="300"/>
              </a:spcBef>
              <a:defRPr sz="1300">
                <a:solidFill>
                  <a:srgbClr val="64748B"/>
                </a:solidFill>
              </a:defRPr>
            </a:pPr>
            <a:r>
              <a:t>Komparasi Titik Sudut Utama pada Setiap Posisi Sudut Putaran</a:t>
            </a:r>
          </a:p>
        </p:txBody>
      </p:sp>
      <p:graphicFrame>
        <p:nvGraphicFramePr>
          <p:cNvPr id="3" name="Table 2"/>
          <p:cNvGraphicFramePr>
            <a:graphicFrameLocks noGrp="1"/>
          </p:cNvGraphicFramePr>
          <p:nvPr/>
        </p:nvGraphicFramePr>
        <p:xfrm>
          <a:off x="731520" y="1645920"/>
          <a:ext cx="10727740" cy="4389120"/>
        </p:xfrm>
        <a:graphic>
          <a:graphicData uri="http://schemas.openxmlformats.org/drawingml/2006/table">
            <a:tbl>
              <a:tblPr firstRow="1" bandRow="1">
                <a:tableStyleId>{5C22544A-7EE6-4342-B048-85BDC9FD1C3A}</a:tableStyleId>
              </a:tblPr>
              <a:tblGrid>
                <a:gridCol w="1645920"/>
                <a:gridCol w="2270455"/>
                <a:gridCol w="2270455"/>
                <a:gridCol w="2270455"/>
                <a:gridCol w="2270455"/>
              </a:tblGrid>
              <a:tr h="731520">
                <a:tc>
                  <a:txBody>
                    <a:bodyPr/>
                    <a:lstStyle/>
                    <a:p>
                      <a:pPr algn="ctr">
                        <a:defRPr b="1" sz="1200">
                          <a:solidFill>
                            <a:srgbClr val="FFFFFF"/>
                          </a:solidFill>
                        </a:defRPr>
                      </a:pPr>
                      <a:r>
                        <a:t>Titik Sudut</a:t>
                      </a:r>
                    </a:p>
                  </a:txBody>
                  <a:tcPr anchor="ctr">
                    <a:solidFill>
                      <a:srgbClr val="1E3A8A"/>
                    </a:solidFill>
                  </a:tcPr>
                </a:tc>
                <a:tc>
                  <a:txBody>
                    <a:bodyPr/>
                    <a:lstStyle/>
                    <a:p>
                      <a:pPr algn="ctr">
                        <a:defRPr b="1" sz="1200">
                          <a:solidFill>
                            <a:srgbClr val="FFFFFF"/>
                          </a:solidFill>
                        </a:defRPr>
                      </a:pPr>
                      <a:r>
                        <a:t>Posisi Awal 0°</a:t>
                      </a:r>
                      <a:br/>
                      <a:r>
                        <a:t>(Kuadran I)</a:t>
                      </a:r>
                    </a:p>
                  </a:txBody>
                  <a:tcPr anchor="ctr">
                    <a:solidFill>
                      <a:srgbClr val="1E3A8A"/>
                    </a:solidFill>
                  </a:tcPr>
                </a:tc>
                <a:tc>
                  <a:txBody>
                    <a:bodyPr/>
                    <a:lstStyle/>
                    <a:p>
                      <a:pPr algn="ctr">
                        <a:defRPr b="1" sz="1200">
                          <a:solidFill>
                            <a:srgbClr val="FFFFFF"/>
                          </a:solidFill>
                        </a:defRPr>
                      </a:pPr>
                      <a:r>
                        <a:t>Rotasi +90°</a:t>
                      </a:r>
                      <a:br/>
                      <a:r>
                        <a:t>(Kuadran II)</a:t>
                      </a:r>
                    </a:p>
                  </a:txBody>
                  <a:tcPr anchor="ctr">
                    <a:solidFill>
                      <a:srgbClr val="1E3A8A"/>
                    </a:solidFill>
                  </a:tcPr>
                </a:tc>
                <a:tc>
                  <a:txBody>
                    <a:bodyPr/>
                    <a:lstStyle/>
                    <a:p>
                      <a:pPr algn="ctr">
                        <a:defRPr b="1" sz="1200">
                          <a:solidFill>
                            <a:srgbClr val="FFFFFF"/>
                          </a:solidFill>
                        </a:defRPr>
                      </a:pPr>
                      <a:r>
                        <a:t>Rotasi +180°</a:t>
                      </a:r>
                      <a:br/>
                      <a:r>
                        <a:t>(Kuadran III)</a:t>
                      </a:r>
                    </a:p>
                  </a:txBody>
                  <a:tcPr anchor="ctr">
                    <a:solidFill>
                      <a:srgbClr val="1E3A8A"/>
                    </a:solidFill>
                  </a:tcPr>
                </a:tc>
                <a:tc>
                  <a:txBody>
                    <a:bodyPr/>
                    <a:lstStyle/>
                    <a:p>
                      <a:pPr algn="ctr">
                        <a:defRPr b="1" sz="1200">
                          <a:solidFill>
                            <a:srgbClr val="FFFFFF"/>
                          </a:solidFill>
                        </a:defRPr>
                      </a:pPr>
                      <a:r>
                        <a:t>Rotasi +270°</a:t>
                      </a:r>
                      <a:br/>
                      <a:r>
                        <a:t>(Kuadran IV)</a:t>
                      </a:r>
                    </a:p>
                  </a:txBody>
                  <a:tcPr anchor="ctr">
                    <a:solidFill>
                      <a:srgbClr val="1E3A8A"/>
                    </a:solidFill>
                  </a:tcPr>
                </a:tc>
              </a:tr>
              <a:tr h="731520">
                <a:tc>
                  <a:txBody>
                    <a:bodyPr/>
                    <a:lstStyle/>
                    <a:p>
                      <a:pPr algn="ctr">
                        <a:defRPr sz="1200" b="1">
                          <a:solidFill>
                            <a:srgbClr val="0F172A"/>
                          </a:solidFill>
                        </a:defRPr>
                      </a:pPr>
                      <a:r>
                        <a:t>Titik A (Poros Bawah)</a:t>
                      </a:r>
                    </a:p>
                  </a:txBody>
                  <a:tcPr anchor="ctr">
                    <a:solidFill>
                      <a:srgbClr val="F8FAFC"/>
                    </a:solidFill>
                  </a:tcPr>
                </a:tc>
                <a:tc>
                  <a:txBody>
                    <a:bodyPr/>
                    <a:lstStyle/>
                    <a:p>
                      <a:pPr algn="ctr">
                        <a:defRPr sz="1200">
                          <a:solidFill>
                            <a:srgbClr val="334155"/>
                          </a:solidFill>
                        </a:defRPr>
                      </a:pPr>
                      <a:r>
                        <a:t>(6.0, 1.8)</a:t>
                      </a:r>
                    </a:p>
                  </a:txBody>
                  <a:tcPr anchor="ctr">
                    <a:solidFill>
                      <a:srgbClr val="F8FAFC"/>
                    </a:solidFill>
                  </a:tcPr>
                </a:tc>
                <a:tc>
                  <a:txBody>
                    <a:bodyPr/>
                    <a:lstStyle/>
                    <a:p>
                      <a:pPr algn="ctr">
                        <a:defRPr sz="1200">
                          <a:solidFill>
                            <a:srgbClr val="334155"/>
                          </a:solidFill>
                        </a:defRPr>
                      </a:pPr>
                      <a:r>
                        <a:t>(-1.8, 6.0)</a:t>
                      </a:r>
                    </a:p>
                  </a:txBody>
                  <a:tcPr anchor="ctr">
                    <a:solidFill>
                      <a:srgbClr val="F8FAFC"/>
                    </a:solidFill>
                  </a:tcPr>
                </a:tc>
                <a:tc>
                  <a:txBody>
                    <a:bodyPr/>
                    <a:lstStyle/>
                    <a:p>
                      <a:pPr algn="ctr">
                        <a:defRPr sz="1200">
                          <a:solidFill>
                            <a:srgbClr val="334155"/>
                          </a:solidFill>
                        </a:defRPr>
                      </a:pPr>
                      <a:r>
                        <a:t>(-6.0, -1.8)</a:t>
                      </a:r>
                    </a:p>
                  </a:txBody>
                  <a:tcPr anchor="ctr">
                    <a:solidFill>
                      <a:srgbClr val="F8FAFC"/>
                    </a:solidFill>
                  </a:tcPr>
                </a:tc>
                <a:tc>
                  <a:txBody>
                    <a:bodyPr/>
                    <a:lstStyle/>
                    <a:p>
                      <a:pPr algn="ctr">
                        <a:defRPr sz="1200">
                          <a:solidFill>
                            <a:srgbClr val="334155"/>
                          </a:solidFill>
                        </a:defRPr>
                      </a:pPr>
                      <a:r>
                        <a:t>(1.8, -6.0)</a:t>
                      </a:r>
                    </a:p>
                  </a:txBody>
                  <a:tcPr anchor="ctr">
                    <a:solidFill>
                      <a:srgbClr val="F8FAFC"/>
                    </a:solidFill>
                  </a:tcPr>
                </a:tc>
              </a:tr>
              <a:tr h="731520">
                <a:tc>
                  <a:txBody>
                    <a:bodyPr/>
                    <a:lstStyle/>
                    <a:p>
                      <a:pPr algn="ctr">
                        <a:defRPr sz="1200" b="1">
                          <a:solidFill>
                            <a:srgbClr val="0F172A"/>
                          </a:solidFill>
                        </a:defRPr>
                      </a:pPr>
                      <a:r>
                        <a:t>Titik B (Pinggang Kanan)</a:t>
                      </a:r>
                    </a:p>
                  </a:txBody>
                  <a:tcPr anchor="ctr">
                    <a:solidFill>
                      <a:srgbClr val="FFFFFF"/>
                    </a:solidFill>
                  </a:tcPr>
                </a:tc>
                <a:tc>
                  <a:txBody>
                    <a:bodyPr/>
                    <a:lstStyle/>
                    <a:p>
                      <a:pPr algn="ctr">
                        <a:defRPr sz="1200">
                          <a:solidFill>
                            <a:srgbClr val="334155"/>
                          </a:solidFill>
                        </a:defRPr>
                      </a:pPr>
                      <a:r>
                        <a:t>(10.4, 11.7)</a:t>
                      </a:r>
                    </a:p>
                  </a:txBody>
                  <a:tcPr anchor="ctr">
                    <a:solidFill>
                      <a:srgbClr val="FFFFFF"/>
                    </a:solidFill>
                  </a:tcPr>
                </a:tc>
                <a:tc>
                  <a:txBody>
                    <a:bodyPr/>
                    <a:lstStyle/>
                    <a:p>
                      <a:pPr algn="ctr">
                        <a:defRPr sz="1200">
                          <a:solidFill>
                            <a:srgbClr val="334155"/>
                          </a:solidFill>
                        </a:defRPr>
                      </a:pPr>
                      <a:r>
                        <a:t>(-11.7, 10.4)</a:t>
                      </a:r>
                    </a:p>
                  </a:txBody>
                  <a:tcPr anchor="ctr">
                    <a:solidFill>
                      <a:srgbClr val="FFFFFF"/>
                    </a:solidFill>
                  </a:tcPr>
                </a:tc>
                <a:tc>
                  <a:txBody>
                    <a:bodyPr/>
                    <a:lstStyle/>
                    <a:p>
                      <a:pPr algn="ctr">
                        <a:defRPr sz="1200">
                          <a:solidFill>
                            <a:srgbClr val="334155"/>
                          </a:solidFill>
                        </a:defRPr>
                      </a:pPr>
                      <a:r>
                        <a:t>(-10.4, -11.7)</a:t>
                      </a:r>
                    </a:p>
                  </a:txBody>
                  <a:tcPr anchor="ctr">
                    <a:solidFill>
                      <a:srgbClr val="FFFFFF"/>
                    </a:solidFill>
                  </a:tcPr>
                </a:tc>
                <a:tc>
                  <a:txBody>
                    <a:bodyPr/>
                    <a:lstStyle/>
                    <a:p>
                      <a:pPr algn="ctr">
                        <a:defRPr sz="1200">
                          <a:solidFill>
                            <a:srgbClr val="334155"/>
                          </a:solidFill>
                        </a:defRPr>
                      </a:pPr>
                      <a:r>
                        <a:t>(11.7, -10.4)</a:t>
                      </a:r>
                    </a:p>
                  </a:txBody>
                  <a:tcPr anchor="ctr">
                    <a:solidFill>
                      <a:srgbClr val="FFFFFF"/>
                    </a:solidFill>
                  </a:tcPr>
                </a:tc>
              </a:tr>
              <a:tr h="731520">
                <a:tc>
                  <a:txBody>
                    <a:bodyPr/>
                    <a:lstStyle/>
                    <a:p>
                      <a:pPr algn="ctr">
                        <a:defRPr sz="1200" b="1">
                          <a:solidFill>
                            <a:srgbClr val="0F172A"/>
                          </a:solidFill>
                        </a:defRPr>
                      </a:pPr>
                      <a:r>
                        <a:t>Titik C (Bahu Kanan)</a:t>
                      </a:r>
                    </a:p>
                  </a:txBody>
                  <a:tcPr anchor="ctr">
                    <a:solidFill>
                      <a:srgbClr val="F8FAFC"/>
                    </a:solidFill>
                  </a:tcPr>
                </a:tc>
                <a:tc>
                  <a:txBody>
                    <a:bodyPr/>
                    <a:lstStyle/>
                    <a:p>
                      <a:pPr algn="ctr">
                        <a:defRPr sz="1200">
                          <a:solidFill>
                            <a:srgbClr val="334155"/>
                          </a:solidFill>
                        </a:defRPr>
                      </a:pPr>
                      <a:r>
                        <a:t>(8.5, 13.0)</a:t>
                      </a:r>
                    </a:p>
                  </a:txBody>
                  <a:tcPr anchor="ctr">
                    <a:solidFill>
                      <a:srgbClr val="F8FAFC"/>
                    </a:solidFill>
                  </a:tcPr>
                </a:tc>
                <a:tc>
                  <a:txBody>
                    <a:bodyPr/>
                    <a:lstStyle/>
                    <a:p>
                      <a:pPr algn="ctr">
                        <a:defRPr sz="1200">
                          <a:solidFill>
                            <a:srgbClr val="334155"/>
                          </a:solidFill>
                        </a:defRPr>
                      </a:pPr>
                      <a:r>
                        <a:t>(-13.0, 8.5)</a:t>
                      </a:r>
                    </a:p>
                  </a:txBody>
                  <a:tcPr anchor="ctr">
                    <a:solidFill>
                      <a:srgbClr val="F8FAFC"/>
                    </a:solidFill>
                  </a:tcPr>
                </a:tc>
                <a:tc>
                  <a:txBody>
                    <a:bodyPr/>
                    <a:lstStyle/>
                    <a:p>
                      <a:pPr algn="ctr">
                        <a:defRPr sz="1200">
                          <a:solidFill>
                            <a:srgbClr val="334155"/>
                          </a:solidFill>
                        </a:defRPr>
                      </a:pPr>
                      <a:r>
                        <a:t>(-8.5, -13.0)</a:t>
                      </a:r>
                    </a:p>
                  </a:txBody>
                  <a:tcPr anchor="ctr">
                    <a:solidFill>
                      <a:srgbClr val="F8FAFC"/>
                    </a:solidFill>
                  </a:tcPr>
                </a:tc>
                <a:tc>
                  <a:txBody>
                    <a:bodyPr/>
                    <a:lstStyle/>
                    <a:p>
                      <a:pPr algn="ctr">
                        <a:defRPr sz="1200">
                          <a:solidFill>
                            <a:srgbClr val="334155"/>
                          </a:solidFill>
                        </a:defRPr>
                      </a:pPr>
                      <a:r>
                        <a:t>(13.0, -8.5)</a:t>
                      </a:r>
                    </a:p>
                  </a:txBody>
                  <a:tcPr anchor="ctr">
                    <a:solidFill>
                      <a:srgbClr val="F8FAFC"/>
                    </a:solidFill>
                  </a:tcPr>
                </a:tc>
              </a:tr>
              <a:tr h="731520">
                <a:tc>
                  <a:txBody>
                    <a:bodyPr/>
                    <a:lstStyle/>
                    <a:p>
                      <a:pPr algn="ctr">
                        <a:defRPr sz="1200" b="1">
                          <a:solidFill>
                            <a:srgbClr val="0F172A"/>
                          </a:solidFill>
                        </a:defRPr>
                      </a:pPr>
                      <a:r>
                        <a:t>Titik D (Bahu Kiri)</a:t>
                      </a:r>
                    </a:p>
                  </a:txBody>
                  <a:tcPr anchor="ctr">
                    <a:solidFill>
                      <a:srgbClr val="FFFFFF"/>
                    </a:solidFill>
                  </a:tcPr>
                </a:tc>
                <a:tc>
                  <a:txBody>
                    <a:bodyPr/>
                    <a:lstStyle/>
                    <a:p>
                      <a:pPr algn="ctr">
                        <a:defRPr sz="1200">
                          <a:solidFill>
                            <a:srgbClr val="334155"/>
                          </a:solidFill>
                        </a:defRPr>
                      </a:pPr>
                      <a:r>
                        <a:t>(3.5, 13.0)</a:t>
                      </a:r>
                    </a:p>
                  </a:txBody>
                  <a:tcPr anchor="ctr">
                    <a:solidFill>
                      <a:srgbClr val="FFFFFF"/>
                    </a:solidFill>
                  </a:tcPr>
                </a:tc>
                <a:tc>
                  <a:txBody>
                    <a:bodyPr/>
                    <a:lstStyle/>
                    <a:p>
                      <a:pPr algn="ctr">
                        <a:defRPr sz="1200">
                          <a:solidFill>
                            <a:srgbClr val="334155"/>
                          </a:solidFill>
                        </a:defRPr>
                      </a:pPr>
                      <a:r>
                        <a:t>(-13.0, 3.5)</a:t>
                      </a:r>
                    </a:p>
                  </a:txBody>
                  <a:tcPr anchor="ctr">
                    <a:solidFill>
                      <a:srgbClr val="FFFFFF"/>
                    </a:solidFill>
                  </a:tcPr>
                </a:tc>
                <a:tc>
                  <a:txBody>
                    <a:bodyPr/>
                    <a:lstStyle/>
                    <a:p>
                      <a:pPr algn="ctr">
                        <a:defRPr sz="1200">
                          <a:solidFill>
                            <a:srgbClr val="334155"/>
                          </a:solidFill>
                        </a:defRPr>
                      </a:pPr>
                      <a:r>
                        <a:t>(-3.5, -13.0)</a:t>
                      </a:r>
                    </a:p>
                  </a:txBody>
                  <a:tcPr anchor="ctr">
                    <a:solidFill>
                      <a:srgbClr val="FFFFFF"/>
                    </a:solidFill>
                  </a:tcPr>
                </a:tc>
                <a:tc>
                  <a:txBody>
                    <a:bodyPr/>
                    <a:lstStyle/>
                    <a:p>
                      <a:pPr algn="ctr">
                        <a:defRPr sz="1200">
                          <a:solidFill>
                            <a:srgbClr val="334155"/>
                          </a:solidFill>
                        </a:defRPr>
                      </a:pPr>
                      <a:r>
                        <a:t>(13.0, -3.5)</a:t>
                      </a:r>
                    </a:p>
                  </a:txBody>
                  <a:tcPr anchor="ctr">
                    <a:solidFill>
                      <a:srgbClr val="FFFFFF"/>
                    </a:solidFill>
                  </a:tcPr>
                </a:tc>
              </a:tr>
              <a:tr h="731520">
                <a:tc>
                  <a:txBody>
                    <a:bodyPr/>
                    <a:lstStyle/>
                    <a:p>
                      <a:pPr algn="ctr">
                        <a:defRPr sz="1200" b="1">
                          <a:solidFill>
                            <a:srgbClr val="0F172A"/>
                          </a:solidFill>
                        </a:defRPr>
                      </a:pPr>
                      <a:r>
                        <a:t>Titik E (Pinggang Kiri)</a:t>
                      </a:r>
                    </a:p>
                  </a:txBody>
                  <a:tcPr anchor="ctr">
                    <a:solidFill>
                      <a:srgbClr val="F8FAFC"/>
                    </a:solidFill>
                  </a:tcPr>
                </a:tc>
                <a:tc>
                  <a:txBody>
                    <a:bodyPr/>
                    <a:lstStyle/>
                    <a:p>
                      <a:pPr algn="ctr">
                        <a:defRPr sz="1200">
                          <a:solidFill>
                            <a:srgbClr val="334155"/>
                          </a:solidFill>
                        </a:defRPr>
                      </a:pPr>
                      <a:r>
                        <a:t>(1.6, 11.7)</a:t>
                      </a:r>
                    </a:p>
                  </a:txBody>
                  <a:tcPr anchor="ctr">
                    <a:solidFill>
                      <a:srgbClr val="F8FAFC"/>
                    </a:solidFill>
                  </a:tcPr>
                </a:tc>
                <a:tc>
                  <a:txBody>
                    <a:bodyPr/>
                    <a:lstStyle/>
                    <a:p>
                      <a:pPr algn="ctr">
                        <a:defRPr sz="1200">
                          <a:solidFill>
                            <a:srgbClr val="334155"/>
                          </a:solidFill>
                        </a:defRPr>
                      </a:pPr>
                      <a:r>
                        <a:t>(-11.7, 1.6)</a:t>
                      </a:r>
                    </a:p>
                  </a:txBody>
                  <a:tcPr anchor="ctr">
                    <a:solidFill>
                      <a:srgbClr val="F8FAFC"/>
                    </a:solidFill>
                  </a:tcPr>
                </a:tc>
                <a:tc>
                  <a:txBody>
                    <a:bodyPr/>
                    <a:lstStyle/>
                    <a:p>
                      <a:pPr algn="ctr">
                        <a:defRPr sz="1200">
                          <a:solidFill>
                            <a:srgbClr val="334155"/>
                          </a:solidFill>
                        </a:defRPr>
                      </a:pPr>
                      <a:r>
                        <a:t>(-1.6, -11.7)</a:t>
                      </a:r>
                    </a:p>
                  </a:txBody>
                  <a:tcPr anchor="ctr">
                    <a:solidFill>
                      <a:srgbClr val="F8FAFC"/>
                    </a:solidFill>
                  </a:tcPr>
                </a:tc>
                <a:tc>
                  <a:txBody>
                    <a:bodyPr/>
                    <a:lstStyle/>
                    <a:p>
                      <a:pPr algn="ctr">
                        <a:defRPr sz="1200">
                          <a:solidFill>
                            <a:srgbClr val="334155"/>
                          </a:solidFill>
                        </a:defRPr>
                      </a:pPr>
                      <a:r>
                        <a:t>(11.7, -1.6)</a:t>
                      </a:r>
                    </a:p>
                  </a:txBody>
                  <a:tcPr anchor="ctr">
                    <a:solidFill>
                      <a:srgbClr val="F8FA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200" b="1">
                <a:solidFill>
                  <a:srgbClr val="1E3A8A"/>
                </a:solidFill>
              </a:defRPr>
            </a:pPr>
            <a:r>
              <a:t>06. PEMBUKTIAN SIFAT ISOMETRI</a:t>
            </a:r>
          </a:p>
          <a:p>
            <a:pPr>
              <a:spcBef>
                <a:spcPts val="300"/>
              </a:spcBef>
              <a:defRPr sz="1300">
                <a:solidFill>
                  <a:srgbClr val="64748B"/>
                </a:solidFill>
              </a:defRPr>
            </a:pPr>
            <a:r>
              <a:t>Verifikasi Matematis Kekekalan Panjang Sisi dan Luas Bangun Poligon</a:t>
            </a:r>
          </a:p>
        </p:txBody>
      </p:sp>
      <p:sp>
        <p:nvSpPr>
          <p:cNvPr id="3" name="Rounded Rectangle 2"/>
          <p:cNvSpPr/>
          <p:nvPr/>
        </p:nvSpPr>
        <p:spPr>
          <a:xfrm>
            <a:off x="731520" y="1554480"/>
            <a:ext cx="5212080" cy="39319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1E3A8A"/>
                </a:solidFill>
              </a:defRPr>
            </a:pPr>
            <a:r>
              <a:t>📏 1. Kekekalan Keliling (Jarak Euclidean)</a:t>
            </a:r>
          </a:p>
          <a:p>
            <a:pPr>
              <a:spcBef>
                <a:spcPts val="600"/>
              </a:spcBef>
              <a:defRPr sz="1200" b="1">
                <a:solidFill>
                  <a:srgbClr val="059669"/>
                </a:solidFill>
              </a:defRPr>
            </a:pPr>
            <a:r>
              <a:t>Rumus:  d = √[ (x₂ - x₁)² + (y₂ - y₁)² ]</a:t>
            </a:r>
          </a:p>
          <a:p>
            <a:pPr>
              <a:spcBef>
                <a:spcPts val="400"/>
              </a:spcBef>
              <a:defRPr sz="1050">
                <a:solidFill>
                  <a:srgbClr val="334155"/>
                </a:solidFill>
              </a:defRPr>
            </a:pPr>
            <a:r>
              <a:t>• Sisi A ke B = √[ (4.4)² + (9.9)² ] = √117.37 ≈ 10.834 satuan</a:t>
            </a:r>
          </a:p>
          <a:p>
            <a:pPr>
              <a:spcBef>
                <a:spcPts val="400"/>
              </a:spcBef>
              <a:defRPr sz="1050">
                <a:solidFill>
                  <a:srgbClr val="334155"/>
                </a:solidFill>
              </a:defRPr>
            </a:pPr>
            <a:r>
              <a:t>• Sisi B ke C = √[ (-1.9)² + (1.3)² ] = √5.30 ≈ 2.302 satuan</a:t>
            </a:r>
          </a:p>
          <a:p>
            <a:pPr>
              <a:spcBef>
                <a:spcPts val="400"/>
              </a:spcBef>
              <a:defRPr sz="1050">
                <a:solidFill>
                  <a:srgbClr val="334155"/>
                </a:solidFill>
              </a:defRPr>
            </a:pPr>
            <a:r>
              <a:t>• Sisi C ke D = √[ (-5.0)² + (0)² ] = √25.00 = 5.000 satuan</a:t>
            </a:r>
          </a:p>
          <a:p>
            <a:pPr>
              <a:spcBef>
                <a:spcPts val="400"/>
              </a:spcBef>
              <a:defRPr sz="1050">
                <a:solidFill>
                  <a:srgbClr val="334155"/>
                </a:solidFill>
              </a:defRPr>
            </a:pPr>
            <a:r>
              <a:t>• Sisi D ke E = √[ (-1.9)² + (-1.3)² ] = √5.30 ≈ 2.302 satuan</a:t>
            </a:r>
          </a:p>
          <a:p>
            <a:pPr>
              <a:spcBef>
                <a:spcPts val="400"/>
              </a:spcBef>
              <a:defRPr sz="1050">
                <a:solidFill>
                  <a:srgbClr val="334155"/>
                </a:solidFill>
              </a:defRPr>
            </a:pPr>
            <a:r>
              <a:t>• Sisi E ke A = √[ (4.4)² + (-9.9)² ] = √117.37 ≈ 10.834 satuan</a:t>
            </a:r>
          </a:p>
          <a:p>
            <a:pPr>
              <a:spcBef>
                <a:spcPts val="800"/>
              </a:spcBef>
              <a:defRPr sz="1150" b="1">
                <a:solidFill>
                  <a:srgbClr val="1E3A8A"/>
                </a:solidFill>
              </a:defRPr>
            </a:pPr>
            <a:r>
              <a:t>TOTAL KELILING = 31.272 satuan panjang (100% IDENTIK)</a:t>
            </a:r>
          </a:p>
        </p:txBody>
      </p:sp>
      <p:sp>
        <p:nvSpPr>
          <p:cNvPr id="4" name="Rounded Rectangle 3"/>
          <p:cNvSpPr/>
          <p:nvPr/>
        </p:nvSpPr>
        <p:spPr>
          <a:xfrm>
            <a:off x="6217920" y="1554480"/>
            <a:ext cx="5212080" cy="39319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1E3A8A"/>
                </a:solidFill>
              </a:defRPr>
            </a:pPr>
            <a:r>
              <a:t>📐 2. Kekekalan Luas (Shoelace Formula)</a:t>
            </a:r>
          </a:p>
          <a:p>
            <a:pPr>
              <a:spcBef>
                <a:spcPts val="600"/>
              </a:spcBef>
              <a:defRPr sz="1200" b="1">
                <a:solidFill>
                  <a:srgbClr val="059669"/>
                </a:solidFill>
              </a:defRPr>
            </a:pPr>
            <a:r>
              <a:t>Metode: Perkalian Silang Tali Sepatu Gauss</a:t>
            </a:r>
          </a:p>
          <a:p>
            <a:pPr>
              <a:spcBef>
                <a:spcPts val="400"/>
              </a:spcBef>
              <a:defRPr sz="1050">
                <a:solidFill>
                  <a:srgbClr val="334155"/>
                </a:solidFill>
              </a:defRPr>
            </a:pPr>
            <a:r>
              <a:t>• Perkalian Silang A ke B = (6.0 × 11.7) - (10.4 × 1.8) = +51.48</a:t>
            </a:r>
          </a:p>
          <a:p>
            <a:pPr>
              <a:spcBef>
                <a:spcPts val="400"/>
              </a:spcBef>
              <a:defRPr sz="1050">
                <a:solidFill>
                  <a:srgbClr val="334155"/>
                </a:solidFill>
              </a:defRPr>
            </a:pPr>
            <a:r>
              <a:t>• Perkalian Silang B ke C = (10.4 × 13.0) - (8.5 × 11.7) = +35.75</a:t>
            </a:r>
          </a:p>
          <a:p>
            <a:pPr>
              <a:spcBef>
                <a:spcPts val="400"/>
              </a:spcBef>
              <a:defRPr sz="1050">
                <a:solidFill>
                  <a:srgbClr val="334155"/>
                </a:solidFill>
              </a:defRPr>
            </a:pPr>
            <a:r>
              <a:t>• Perkalian Silang C ke D = (8.5 × 13.0) - (3.5 × 13.0) = +65.00</a:t>
            </a:r>
          </a:p>
          <a:p>
            <a:pPr>
              <a:spcBef>
                <a:spcPts val="400"/>
              </a:spcBef>
              <a:defRPr sz="1050">
                <a:solidFill>
                  <a:srgbClr val="334155"/>
                </a:solidFill>
              </a:defRPr>
            </a:pPr>
            <a:r>
              <a:t>• Perkalian Silang D ke E = (3.5 × 11.7) - (1.6 × 13.0) = +20.15</a:t>
            </a:r>
          </a:p>
          <a:p>
            <a:pPr>
              <a:spcBef>
                <a:spcPts val="400"/>
              </a:spcBef>
              <a:defRPr sz="1050">
                <a:solidFill>
                  <a:srgbClr val="334155"/>
                </a:solidFill>
              </a:defRPr>
            </a:pPr>
            <a:r>
              <a:t>• Perkalian Silang E ke A = (1.6 × 1.8) - (6.0 × 11.7) = -67.32</a:t>
            </a:r>
          </a:p>
          <a:p>
            <a:pPr>
              <a:spcBef>
                <a:spcPts val="400"/>
              </a:spcBef>
              <a:defRPr sz="1050">
                <a:solidFill>
                  <a:srgbClr val="334155"/>
                </a:solidFill>
              </a:defRPr>
            </a:pPr>
            <a:r>
              <a:t>• Jumlah Total Determinan (Σ) = 105.06 satuan</a:t>
            </a:r>
          </a:p>
          <a:p>
            <a:pPr>
              <a:spcBef>
                <a:spcPts val="800"/>
              </a:spcBef>
              <a:defRPr sz="1150" b="1">
                <a:solidFill>
                  <a:srgbClr val="1E3A8A"/>
                </a:solidFill>
              </a:defRPr>
            </a:pPr>
            <a:r>
              <a:t>LUAS = ½ × |105.06| = 52.53 satuan luas (100% KONSTAN)</a:t>
            </a:r>
          </a:p>
        </p:txBody>
      </p:sp>
      <p:sp>
        <p:nvSpPr>
          <p:cNvPr id="5" name="Rounded Rectangle 4"/>
          <p:cNvSpPr/>
          <p:nvPr/>
        </p:nvSpPr>
        <p:spPr>
          <a:xfrm>
            <a:off x="731520" y="5623560"/>
            <a:ext cx="10728655" cy="77724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1E3A8A"/>
                </a:solidFill>
              </a:defRPr>
            </a:pPr>
            <a:r>
              <a:t>KESIMPULAN UJI: Luas dan keliling terbukti 100% konstan di keempat kuadran (0°, 90°, 180°, 270°).</a:t>
            </a:r>
            <a:br/>
            <a:r>
              <a:t>Ini membuktikan secara ilmiah bahwa rotasi merupakan Transformasi Isometri Sejati!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200" b="1">
                <a:solidFill>
                  <a:srgbClr val="1E3A8A"/>
                </a:solidFill>
              </a:defRPr>
            </a:pPr>
            <a:r>
              <a:t>07. RELEVANSI DENGAN KEJURUAN PPLG</a:t>
            </a:r>
          </a:p>
          <a:p>
            <a:pPr>
              <a:spcBef>
                <a:spcPts val="300"/>
              </a:spcBef>
              <a:defRPr sz="1300">
                <a:solidFill>
                  <a:srgbClr val="64748B"/>
                </a:solidFill>
              </a:defRPr>
            </a:pPr>
            <a:r>
              <a:t>Bagaimana Ilmu Matematika Bekerja di Balik Layar Industri Perangkat Lunak &amp; Gim</a:t>
            </a:r>
          </a:p>
        </p:txBody>
      </p:sp>
      <p:sp>
        <p:nvSpPr>
          <p:cNvPr id="3" name="Rounded Rectangle 2"/>
          <p:cNvSpPr/>
          <p:nvPr/>
        </p:nvSpPr>
        <p:spPr>
          <a:xfrm>
            <a:off x="731520" y="1554480"/>
            <a:ext cx="3413455"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400" b="1">
                <a:solidFill>
                  <a:srgbClr val="1E3A8A"/>
                </a:solidFill>
              </a:defRPr>
            </a:pPr>
            <a:r>
              <a:t>🌐 1. CSS Transform 2D (Web UI/UX)</a:t>
            </a:r>
          </a:p>
          <a:p>
            <a:pPr>
              <a:spcBef>
                <a:spcPts val="800"/>
              </a:spcBef>
              <a:defRPr sz="1100">
                <a:solidFill>
                  <a:srgbClr val="334155"/>
                </a:solidFill>
              </a:defRPr>
            </a:pPr>
            <a:r>
              <a:t>• Sintaks Modern: transform: rotate(90deg);</a:t>
            </a:r>
          </a:p>
          <a:p>
            <a:pPr>
              <a:spcBef>
                <a:spcPts val="800"/>
              </a:spcBef>
              <a:defRPr sz="1100">
                <a:solidFill>
                  <a:srgbClr val="334155"/>
                </a:solidFill>
              </a:defRPr>
            </a:pPr>
            <a:r>
              <a:t>• Di balik layar, peramban web (browser engine) menjalankan perkalian matriks affine pada GPU untuk merender animasi tombol, ikon, atau kartu profil.</a:t>
            </a:r>
          </a:p>
          <a:p>
            <a:pPr>
              <a:spcBef>
                <a:spcPts val="800"/>
              </a:spcBef>
              <a:defRPr sz="1100">
                <a:solidFill>
                  <a:srgbClr val="334155"/>
                </a:solidFill>
              </a:defRPr>
            </a:pPr>
            <a:r>
              <a:t>• Komputasi GPU: Menjamin perputaran antarmuka berjalan 60 FPS tanpa lag.</a:t>
            </a:r>
          </a:p>
        </p:txBody>
      </p:sp>
      <p:sp>
        <p:nvSpPr>
          <p:cNvPr id="4" name="Rounded Rectangle 3"/>
          <p:cNvSpPr/>
          <p:nvPr/>
        </p:nvSpPr>
        <p:spPr>
          <a:xfrm>
            <a:off x="4389120" y="1554480"/>
            <a:ext cx="3413455"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400" b="1">
                <a:solidFill>
                  <a:srgbClr val="1E3A8A"/>
                </a:solidFill>
              </a:defRPr>
            </a:pPr>
            <a:r>
              <a:t>🎮 2. HTML5 Canvas &amp; Game 2D API</a:t>
            </a:r>
          </a:p>
          <a:p>
            <a:pPr>
              <a:spcBef>
                <a:spcPts val="800"/>
              </a:spcBef>
              <a:defRPr sz="1100">
                <a:solidFill>
                  <a:srgbClr val="334155"/>
                </a:solidFill>
              </a:defRPr>
            </a:pPr>
            <a:r>
              <a:t>• Sintaks Game Engine: context.rotate((sudut * Math.PI) / 180);</a:t>
            </a:r>
          </a:p>
          <a:p>
            <a:pPr>
              <a:spcBef>
                <a:spcPts val="800"/>
              </a:spcBef>
              <a:defRPr sz="1100">
                <a:solidFill>
                  <a:srgbClr val="334155"/>
                </a:solidFill>
              </a:defRPr>
            </a:pPr>
            <a:r>
              <a:t>• Pengembang gim menerapkan manipulasi matriks rotasi langsung di dalam Game Render Loop untuk mengarahkan pesawat, karakter, atau proyektil.</a:t>
            </a:r>
          </a:p>
          <a:p>
            <a:pPr>
              <a:spcBef>
                <a:spcPts val="800"/>
              </a:spcBef>
              <a:defRPr sz="1100">
                <a:solidFill>
                  <a:srgbClr val="334155"/>
                </a:solidFill>
              </a:defRPr>
            </a:pPr>
            <a:r>
              <a:t>• Pusat Pivot: Penentuan titik pusat putar persis menggunakan prinsip translasi O(0,0).</a:t>
            </a:r>
          </a:p>
        </p:txBody>
      </p:sp>
      <p:sp>
        <p:nvSpPr>
          <p:cNvPr id="5" name="Rounded Rectangle 4"/>
          <p:cNvSpPr/>
          <p:nvPr/>
        </p:nvSpPr>
        <p:spPr>
          <a:xfrm>
            <a:off x="8046720" y="1554480"/>
            <a:ext cx="3413455" cy="4663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400" b="1">
                <a:solidFill>
                  <a:srgbClr val="1E3A8A"/>
                </a:solidFill>
              </a:defRPr>
            </a:pPr>
            <a:r>
              <a:t>📐 3. Format Vektor SVG Berbasis XML</a:t>
            </a:r>
          </a:p>
          <a:p>
            <a:pPr>
              <a:spcBef>
                <a:spcPts val="800"/>
              </a:spcBef>
              <a:defRPr sz="1100">
                <a:solidFill>
                  <a:srgbClr val="334155"/>
                </a:solidFill>
              </a:defRPr>
            </a:pPr>
            <a:r>
              <a:t>• Keunggulan Format: Tidak berbasis piksel bitmap, melainkan instruksi matematis koordinat kurva Bézier.</a:t>
            </a:r>
          </a:p>
          <a:p>
            <a:pPr>
              <a:spcBef>
                <a:spcPts val="800"/>
              </a:spcBef>
              <a:defRPr sz="1100">
                <a:solidFill>
                  <a:srgbClr val="334155"/>
                </a:solidFill>
              </a:defRPr>
            </a:pPr>
            <a:r>
              <a:t>• Ukuran Sangat Ringan: Berkas ikon SVG lambang SMKN 9 berukuran di bawah 10 KB.</a:t>
            </a:r>
          </a:p>
          <a:p>
            <a:pPr>
              <a:spcBef>
                <a:spcPts val="800"/>
              </a:spcBef>
              <a:defRPr sz="1100">
                <a:solidFill>
                  <a:srgbClr val="334155"/>
                </a:solidFill>
              </a:defRPr>
            </a:pPr>
            <a:r>
              <a:t>• Kualitas Visual: Dapat di-zoom tanpa batas (resolusi retina) tanpa pernah pecah atau buram.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200" b="1">
                <a:solidFill>
                  <a:srgbClr val="1E3A8A"/>
                </a:solidFill>
              </a:defRPr>
            </a:pPr>
            <a:r>
              <a:t>08. KESIMPULAN KELOMPOK 4</a:t>
            </a:r>
          </a:p>
          <a:p>
            <a:pPr>
              <a:spcBef>
                <a:spcPts val="300"/>
              </a:spcBef>
              <a:defRPr sz="1300">
                <a:solidFill>
                  <a:srgbClr val="64748B"/>
                </a:solidFill>
              </a:defRPr>
            </a:pPr>
            <a:r>
              <a:t>Ringkasan Hasil Pembelajaran Proyek Matematika Terapan Kelas XII PPLG</a:t>
            </a:r>
          </a:p>
        </p:txBody>
      </p:sp>
      <p:sp>
        <p:nvSpPr>
          <p:cNvPr id="3" name="Rounded Rectangle 2"/>
          <p:cNvSpPr/>
          <p:nvPr/>
        </p:nvSpPr>
        <p:spPr>
          <a:xfrm>
            <a:off x="731520" y="1508760"/>
            <a:ext cx="10728655" cy="1051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300" b="1">
                <a:solidFill>
                  <a:srgbClr val="1E3A8A"/>
                </a:solidFill>
              </a:defRPr>
            </a:pPr>
            <a:r>
              <a:t>1. Deterministik &amp; Presisi Aljabar Matriks</a:t>
            </a:r>
          </a:p>
          <a:p>
            <a:pPr>
              <a:spcBef>
                <a:spcPts val="200"/>
              </a:spcBef>
              <a:defRPr sz="1100">
                <a:solidFill>
                  <a:srgbClr val="334155"/>
                </a:solidFill>
              </a:defRPr>
            </a:pPr>
            <a:r>
              <a:t>Transformasi rotasi terhadap titik pusat O(0,0) menghasilkan perpindahan posisi yang teratur, simetris, dan dapat dihitung secara pasti dengan tiga aturan pemetaan baku: (x, y) → (-y, x) pada 90°, (-x, -y) pada 180°, dan (y, -x) pada 270°.</a:t>
            </a:r>
          </a:p>
        </p:txBody>
      </p:sp>
      <p:sp>
        <p:nvSpPr>
          <p:cNvPr id="4" name="Rounded Rectangle 3"/>
          <p:cNvSpPr/>
          <p:nvPr/>
        </p:nvSpPr>
        <p:spPr>
          <a:xfrm>
            <a:off x="731520" y="2697480"/>
            <a:ext cx="10728655" cy="1051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300" b="1">
                <a:solidFill>
                  <a:srgbClr val="059669"/>
                </a:solidFill>
              </a:defRPr>
            </a:pPr>
            <a:r>
              <a:t>2. Keutuhan Geometri dengan Kurva Bézier</a:t>
            </a:r>
          </a:p>
          <a:p>
            <a:pPr>
              <a:spcBef>
                <a:spcPts val="200"/>
              </a:spcBef>
              <a:defRPr sz="1100">
                <a:solidFill>
                  <a:srgbClr val="334155"/>
                </a:solidFill>
              </a:defRPr>
            </a:pPr>
            <a:r>
              <a:t>Penerapan titik kontrol kelengkungan Bézier terbukti menjaga estetika lekukan lambang sekolah. Karena titik kontrol diputar dengan rumus matriks yang sama, bentuk perisai tidak pernah rusak atau cacat pada posisi mana pun.</a:t>
            </a:r>
          </a:p>
        </p:txBody>
      </p:sp>
      <p:sp>
        <p:nvSpPr>
          <p:cNvPr id="5" name="Rounded Rectangle 4"/>
          <p:cNvSpPr/>
          <p:nvPr/>
        </p:nvSpPr>
        <p:spPr>
          <a:xfrm>
            <a:off x="731520" y="3886200"/>
            <a:ext cx="10728655" cy="1051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300" b="1">
                <a:solidFill>
                  <a:srgbClr val="1E3A8A"/>
                </a:solidFill>
              </a:defRPr>
            </a:pPr>
            <a:r>
              <a:t>3. Terbukti Memenuhi Sifat Isometri Sejati</a:t>
            </a:r>
          </a:p>
          <a:p>
            <a:pPr>
              <a:spcBef>
                <a:spcPts val="200"/>
              </a:spcBef>
              <a:defRPr sz="1100">
                <a:solidFill>
                  <a:srgbClr val="334155"/>
                </a:solidFill>
              </a:defRPr>
            </a:pPr>
            <a:r>
              <a:t>Pengujian jarak Euclidean membuktikan keliling perisai tetap konstan pada 31.272 satuan, dan pengujian Shoelace Gauss membuktikan luas poligon tetap konstan pada 52.53 satuan luas di keempat kuadran.</a:t>
            </a:r>
          </a:p>
        </p:txBody>
      </p:sp>
      <p:sp>
        <p:nvSpPr>
          <p:cNvPr id="6" name="Rounded Rectangle 5"/>
          <p:cNvSpPr/>
          <p:nvPr/>
        </p:nvSpPr>
        <p:spPr>
          <a:xfrm>
            <a:off x="731520" y="5074920"/>
            <a:ext cx="10728655" cy="1051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300" b="1">
                <a:solidFill>
                  <a:srgbClr val="0F172A"/>
                </a:solidFill>
              </a:defRPr>
            </a:pPr>
            <a:r>
              <a:t>4. Matematika adalah Pondasi Rekayasa Perangkat Lunak</a:t>
            </a:r>
          </a:p>
          <a:p>
            <a:pPr>
              <a:spcBef>
                <a:spcPts val="200"/>
              </a:spcBef>
              <a:defRPr sz="1100">
                <a:solidFill>
                  <a:srgbClr val="334155"/>
                </a:solidFill>
              </a:defRPr>
            </a:pPr>
            <a:r>
              <a:t>Proyek ini membuktikan bahwa matematika bukan sekadar hitungan angka teoritis di atas kertas, melainkan logika dasar yang menggerakkan grafik komputer, kecerdasan buatan, dan animasi antarmuka digital.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731520"/>
            <a:ext cx="10362895" cy="1371600"/>
          </a:xfrm>
          <a:prstGeom prst="rect">
            <a:avLst/>
          </a:prstGeom>
          <a:noFill/>
        </p:spPr>
        <p:txBody>
          <a:bodyPr wrap="square">
            <a:spAutoFit/>
          </a:bodyPr>
          <a:lstStyle/>
          <a:p>
            <a:pPr algn="ctr">
              <a:defRPr sz="3600" b="1">
                <a:solidFill>
                  <a:srgbClr val="FFFFFF"/>
                </a:solidFill>
              </a:defRPr>
            </a:pPr>
            <a:r>
              <a:t>TERIMA KASIH</a:t>
            </a:r>
          </a:p>
          <a:p>
            <a:pPr algn="ctr">
              <a:spcBef>
                <a:spcPts val="400"/>
              </a:spcBef>
              <a:defRPr sz="1600">
                <a:solidFill>
                  <a:srgbClr val="38BDF8"/>
                </a:solidFill>
              </a:defRPr>
            </a:pPr>
            <a:r>
              <a:t>Sesi Presentasi Selesai • Dibuka Sesi Diskusi &amp; Tanya Jawab (Q&amp;A)</a:t>
            </a:r>
          </a:p>
        </p:txBody>
      </p:sp>
      <p:sp>
        <p:nvSpPr>
          <p:cNvPr id="3" name="Rounded Rectangle 2"/>
          <p:cNvSpPr/>
          <p:nvPr/>
        </p:nvSpPr>
        <p:spPr>
          <a:xfrm>
            <a:off x="3931920" y="2194560"/>
            <a:ext cx="4327855" cy="40233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Uji Coba Langsung Aplikasi Kami</a:t>
            </a:r>
          </a:p>
        </p:txBody>
      </p:sp>
      <p:pic>
        <p:nvPicPr>
          <p:cNvPr id="4" name="Picture 3" descr="qrcode_web_matematika.png"/>
          <p:cNvPicPr>
            <a:picLocks noChangeAspect="1"/>
          </p:cNvPicPr>
          <p:nvPr/>
        </p:nvPicPr>
        <p:blipFill>
          <a:blip r:embed="rId2"/>
          <a:stretch>
            <a:fillRect/>
          </a:stretch>
        </p:blipFill>
        <p:spPr>
          <a:xfrm>
            <a:off x="4937760" y="2743200"/>
            <a:ext cx="2286000" cy="2286000"/>
          </a:xfrm>
          <a:prstGeom prst="rect">
            <a:avLst/>
          </a:prstGeom>
        </p:spPr>
      </p:pic>
      <p:sp>
        <p:nvSpPr>
          <p:cNvPr id="5" name="TextBox 4"/>
          <p:cNvSpPr txBox="1"/>
          <p:nvPr/>
        </p:nvSpPr>
        <p:spPr>
          <a:xfrm>
            <a:off x="4023360" y="5212080"/>
            <a:ext cx="4114800" cy="822960"/>
          </a:xfrm>
          <a:prstGeom prst="rect">
            <a:avLst/>
          </a:prstGeom>
          <a:noFill/>
        </p:spPr>
        <p:txBody>
          <a:bodyPr wrap="square" lIns="0" tIns="0" rIns="0" bIns="0">
            <a:spAutoFit/>
          </a:bodyPr>
          <a:lstStyle/>
          <a:p>
            <a:pPr algn="ctr">
              <a:defRPr sz="1200" b="1">
                <a:solidFill>
                  <a:srgbClr val="38BDF8"/>
                </a:solidFill>
              </a:defRPr>
            </a:pPr>
            <a:r>
              <a:t>Tautan Singkat: tinyurl.com/rotasi-smkn9</a:t>
            </a:r>
          </a:p>
          <a:p>
            <a:pPr algn="ctr">
              <a:spcBef>
                <a:spcPts val="200"/>
              </a:spcBef>
              <a:defRPr sz="1050">
                <a:solidFill>
                  <a:srgbClr val="94A3B8"/>
                </a:solidFill>
              </a:defRPr>
            </a:pPr>
            <a:r>
              <a:t>Kelompok 4 • XII PPLG • SMK Negeri 9 Semarang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